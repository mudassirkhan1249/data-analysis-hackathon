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SemiBold"/>
      <p:regular r:id="rId201315"/>
    </p:embeddedFont>
    <p:embeddedFont>
      <p:font typeface="Arimo Bold"/>
      <p:regular r:id="rId201316"/>
    </p:embeddedFont>
    <p:embeddedFont>
      <p:font typeface="Outfit"/>
      <p:regular r:id="rId201317"/>
    </p:embeddedFont>
    <p:embeddedFont>
      <p:font typeface="Outfit SemiBold"/>
      <p:regular r:id="rId201318"/>
    </p:embeddedFont>
    <p:embeddedFont>
      <p:font typeface="Outfit Bold"/>
      <p:regular r:id="rId201319"/>
    </p:embeddedFont>
    <p:embeddedFont>
      <p:font typeface="Outfit ExtraBold"/>
      <p:regular r:id="rId201320"/>
    </p:embeddedFont>
    <p:embeddedFont>
      <p:font typeface="Outfit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-analysis-hackathon-vyzvs4jxmbtd4yvzzwbafe.streamlit.app/" TargetMode="External"/><Relationship Id="rId2" Type="http://schemas.openxmlformats.org/officeDocument/2006/relationships/hyperlink" Target="https://github.com/mudassirkhan1249/Data-Analysis-Hackathon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1013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Olist E-Commerce Analytics: Scaling Dynamics, Logistics Friction &amp; Growth Strategy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64517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Executive Data Analysis &amp; Marketplace Optimization 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095823"/>
            <a:ext cx="10868745" cy="2030413"/>
          </a:xfrm>
          <a:prstGeom prst="roundRect">
            <a:avLst>
              <a:gd name="adj" fmla="val 342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102173"/>
            <a:ext cx="5428023" cy="2017713"/>
          </a:xfrm>
          <a:custGeom>
            <a:avLst/>
            <a:gdLst/>
            <a:ahLst/>
            <a:cxnLst/>
            <a:rect l="l" t="t" r="r" b="b"/>
            <a:pathLst>
              <a:path w="5428023" h="2017713">
                <a:moveTo>
                  <a:pt x="57887" y="0"/>
                </a:moveTo>
                <a:lnTo>
                  <a:pt x="5428023" y="0"/>
                </a:lnTo>
                <a:lnTo>
                  <a:pt x="5428023" y="2017713"/>
                </a:lnTo>
                <a:lnTo>
                  <a:pt x="57887" y="2017713"/>
                </a:lnTo>
                <a:arcTo hR="57888" wR="57887" stAng="5400000" swAng="5400000"/>
                <a:lnTo>
                  <a:pt x="0" y="57888"/>
                </a:lnTo>
                <a:arcTo hR="57888" wR="57887" stAng="10800000" swAng="5400000"/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6" name="Text 4"/>
          <p:cNvSpPr/>
          <p:nvPr/>
        </p:nvSpPr>
        <p:spPr>
          <a:xfrm>
            <a:off x="833119" y="3267472"/>
            <a:ext cx="509743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Live Interactive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3631505"/>
            <a:ext cx="509743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metrics and KPI monitoring across all marketplace dimensions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Link: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5E4CE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https://data-analysis-hackathon-vyzvs4jxmbtd4yvzzwbafe.streamlit.app/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3102173"/>
            <a:ext cx="5428023" cy="2017713"/>
          </a:xfrm>
          <a:custGeom>
            <a:avLst/>
            <a:gdLst/>
            <a:ahLst/>
            <a:cxnLst/>
            <a:rect l="l" t="t" r="r" b="b"/>
            <a:pathLst>
              <a:path w="5428023" h="2017713">
                <a:moveTo>
                  <a:pt x="0" y="0"/>
                </a:moveTo>
                <a:lnTo>
                  <a:pt x="5370136" y="0"/>
                </a:lnTo>
                <a:arcTo hR="57888" wR="57887" stAng="16200000" swAng="5400000"/>
                <a:lnTo>
                  <a:pt x="5428023" y="1959824"/>
                </a:lnTo>
                <a:arcTo hR="57888" wR="57887" stAng="0" swAng="5400000"/>
                <a:lnTo>
                  <a:pt x="0" y="2017713"/>
                </a:lnTo>
                <a:lnTo>
                  <a:pt x="0" y="0"/>
                </a:lnTo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102173"/>
            <a:ext cx="19050" cy="2017713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</p:sp>
      <p:sp>
        <p:nvSpPr>
          <p:cNvPr id="10" name="Text 8"/>
          <p:cNvSpPr/>
          <p:nvPr/>
        </p:nvSpPr>
        <p:spPr>
          <a:xfrm>
            <a:off x="6261142" y="3267472"/>
            <a:ext cx="509743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 GitHub Project Repository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1142" y="3631505"/>
            <a:ext cx="509743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analytical codebase, data pipeline, and methodology documentation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Link: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5E4CE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https://github.com/mudassirkhan1249/Data-Analysis-Hackathon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82" y="531227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Developed by Mudassir Khan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33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Architecture &amp; Statistical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55018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Olist dataset provides a comprehensive multi-dimensional view of Brazilian e-commerce operations. The following descriptive statistics establish the analytical foundation for all subsequent strategic findings.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06860"/>
            <a:ext cx="8151509" cy="333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5145484"/>
            <a:ext cx="3560872" cy="1031180"/>
          </a:xfrm>
          <a:prstGeom prst="roundRect">
            <a:avLst>
              <a:gd name="adj" fmla="val 5052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1845" y="5275858"/>
            <a:ext cx="33001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Order Pricing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1845" y="5525393"/>
            <a:ext cx="330013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 item price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137.04 BRL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(Median: 86.50 BRL). Right-skewed distribution driven by high-value outliers reaching up to 13,440 BRL — indicating a long tail of premium SKUs.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15312" y="5145484"/>
            <a:ext cx="3560971" cy="1031180"/>
          </a:xfrm>
          <a:prstGeom prst="roundRect">
            <a:avLst>
              <a:gd name="adj" fmla="val 5052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45683" y="5275858"/>
            <a:ext cx="33002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Logistics Performance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45683" y="5525393"/>
            <a:ext cx="3300231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delivery time of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12.56 days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Actual delivery arrives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11.18 days ahead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estimated dates on average — a structural buffer that masks true delay risk in tail segments.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69249" y="5145484"/>
            <a:ext cx="3560872" cy="1031180"/>
          </a:xfrm>
          <a:prstGeom prst="roundRect">
            <a:avLst>
              <a:gd name="adj" fmla="val 5052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9619" y="5275858"/>
            <a:ext cx="33001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Customer Feedback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9619" y="5525393"/>
            <a:ext cx="330013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Overall satisfaction maintains a strong mean rating of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4.14 / 5.0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 healthy baseline that conceals significant variance across delivery cohorts and product categories.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808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Marketplace Growth vs. Quality Trade-Off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287463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Rapid GMV scaling during 2017–2018 exposed a critical operational tension: volume growth outpaced fulfillment capacity, temporarily eroding the customer experience that sustains long-term retention.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07927"/>
            <a:ext cx="7064595" cy="32568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4086" y="4843363"/>
            <a:ext cx="5458085" cy="796032"/>
          </a:xfrm>
          <a:prstGeom prst="roundRect">
            <a:avLst>
              <a:gd name="adj" fmla="val 9724"/>
            </a:avLst>
          </a:prstGeom>
          <a:solidFill>
            <a:srgbClr val="1D1F22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91537" y="4913213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Revenue Scaling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91537" y="5150941"/>
            <a:ext cx="524318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Monthly GMV surged dramatically, hitting a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peak of 988K BRL in November 2017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driven by Black Friday demand concentration. This single-event spike represents a structural stress test on logistics infrastructure.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33262" y="4913213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Satisfaction Impact &amp; Recovery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33262" y="5150941"/>
            <a:ext cx="530330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Rapid order volume scaling temporarily eroded customer ratings, dropping satisfaction from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&gt;4.5 down to a trough of 3.75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 early 2018. Rating trajectory subsequently stabilized back around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4.25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as operational capacity adjusted — confirming that quality degradation was transient but operationally significant.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61475" y="5717977"/>
            <a:ext cx="10868745" cy="328116"/>
          </a:xfrm>
          <a:prstGeom prst="roundRect">
            <a:avLst>
              <a:gd name="adj" fmla="val 13761"/>
            </a:avLst>
          </a:prstGeom>
          <a:solidFill>
            <a:srgbClr val="FCF2B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6" y="5822156"/>
            <a:ext cx="134339" cy="1074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0716" y="5814616"/>
            <a:ext cx="1102163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growth-quality trade-off is a leading indicator of churn risk. Every 0.1-point drop in average rating correlates with measurable increases in one-time purchase rates and reduced repeat conversion.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295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Quantifying Delays Impact on Customer Ratings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366639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Delivery timing is the single most powerful lever on customer satisfaction in the Olist marketplace. The data reveals a stark, non-linear penalty structure that demands immediate logistics prioritization.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18481"/>
            <a:ext cx="7411257" cy="2490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4674" y="4475262"/>
            <a:ext cx="2658996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4.28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61475" y="5016401"/>
            <a:ext cx="35453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On-Time Stars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1475" y="5265936"/>
            <a:ext cx="354539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rating for on-time or early deliveries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66350" y="4475262"/>
            <a:ext cx="2658996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2.54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323150" y="5016401"/>
            <a:ext cx="35453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Late Delivery Stars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23150" y="5265936"/>
            <a:ext cx="354539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rating when delivery is late — a </a:t>
            </a:r>
            <a:pPr algn="ctr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1.74-star penalty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28025" y="4475262"/>
            <a:ext cx="2658996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46.7%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984826" y="5016401"/>
            <a:ext cx="354539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1-Star Rate (Late)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84826" y="5265936"/>
            <a:ext cx="3545394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1-star reviews skyrocket from 6.8% on-time to 46.7% when delayed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1475" y="5717778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On-time orders heavily skew toward 5-star ratings, while delayed orders shift the entire review density to 1 star. This bimodal distribution confirms that delivery reliability is a binary satisfaction driver — not a gradual one.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868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Customer Tolerance &amp; Delivery Windows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36551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Understanding where satisfaction thresholds break down allows Olist to set evidence-based SLA targets and prioritize logistics investment at the most impactful delivery windows.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14760"/>
            <a:ext cx="8151509" cy="355818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77520"/>
            <a:ext cx="3560872" cy="12175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8994" y="5214243"/>
            <a:ext cx="323663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Optimal Window: 0–15 Days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8994" y="5463778"/>
            <a:ext cx="3236633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Ratings remain strong, ranging from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4.44 stars (0–5 days)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to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4.25 stars (11–15 days)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This is the target SLA band for all high-demand SKUs and priority regions.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5312" y="5077520"/>
            <a:ext cx="3560971" cy="12175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02831" y="5214243"/>
            <a:ext cx="32367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Critical Threshold: 20 Days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02831" y="5463778"/>
            <a:ext cx="3236732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 satisfaction breaches the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4.0 benchmark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once delivery times cross 20 days, dropping to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3.85 stars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This is the operational red line for SLA management and carrier escalation protocols.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9249" y="5077520"/>
            <a:ext cx="3560872" cy="12175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56768" y="5214243"/>
            <a:ext cx="323663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Severe Deterioration: 30+ Days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156768" y="5463778"/>
            <a:ext cx="3236633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Orders taking 30 or more days drop to a critical rating of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2.25 stars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entering territory that triggers negative word-of-mouth, refund requests, and permanent churn. Immediate intervention required at this cohort.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182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Demand Concentration vs. Regional Delay Rates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122958"/>
            <a:ext cx="1086874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Geographic demand is heavily concentrated in Southeast Brazil, but logistics performance varies dramatically by state — creating a misalignment between where volume is highest and where delay risk is most acute.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28961"/>
            <a:ext cx="7608102" cy="2845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8133" y="4465538"/>
            <a:ext cx="5459871" cy="1793280"/>
          </a:xfrm>
          <a:prstGeom prst="roundRect">
            <a:avLst>
              <a:gd name="adj" fmla="val 4648"/>
            </a:avLst>
          </a:prstGeom>
          <a:solidFill>
            <a:srgbClr val="1D1F22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93819" y="4546501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Demand Hubs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3819" y="4808339"/>
            <a:ext cx="522849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São Paulo (SP)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dominates with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40,492 orders (42.0%)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total volume. Rio de Janeiro (RJ) follows at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12.8%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Minas Gerais (MG) at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11.8%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These three states collectively represent over 66% of all marketplace orders.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3382" y="4546501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Regional Logistics Bottlenecks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43382" y="4808339"/>
            <a:ext cx="5293188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SP Hub: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Efficient operations with only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5.9% late rate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 benchmark for other regions.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High-Risk Zones: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43382" y="5269111"/>
            <a:ext cx="5293188" cy="528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Bahia (BA):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Leads late deliveries at 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14.0%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Rio de Janeiro (RJ):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13.5%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late rate despite high volume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Espírito Santo (ES):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12.2%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late rate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43382" y="5870972"/>
            <a:ext cx="529318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RJ paradox — high demand paired with high delay rates — represents the most urgent logistics investment case.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3263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Volume Drivers, Revenue Hubs &amp; Quality Red Flags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76945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Category-level analysis reveals a three-way tension between order volume, revenue generation, and customer satisfaction — requiring differentiated strategies across the product portfolio.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5155"/>
            <a:ext cx="8151509" cy="29957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4655443"/>
            <a:ext cx="3560872" cy="1499295"/>
          </a:xfrm>
          <a:prstGeom prst="roundRect">
            <a:avLst>
              <a:gd name="adj" fmla="val 347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1845" y="4785816"/>
            <a:ext cx="33001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Volume Driver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1845" y="5035352"/>
            <a:ext cx="3300132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Bed Bath Table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leads volume with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9,154 orders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1,019.4K BRL GMV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High transaction frequency makes this category a logistics throughput priority and a key lever for fulfillment efficiency gains.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15312" y="4655443"/>
            <a:ext cx="3560971" cy="1499295"/>
          </a:xfrm>
          <a:prstGeom prst="roundRect">
            <a:avLst>
              <a:gd name="adj" fmla="val 347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45683" y="4785816"/>
            <a:ext cx="33002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Revenue Generator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45683" y="5035352"/>
            <a:ext cx="3300231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Health Beauty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generates the highest revenue at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1,234.2K BRL GMV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across 6,613 orders. Higher average order value and strong repeat purchase potential make this the primary category for loyalty program investment.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69249" y="4655443"/>
            <a:ext cx="3560872" cy="1499295"/>
          </a:xfrm>
          <a:prstGeom prst="roundRect">
            <a:avLst>
              <a:gd name="adj" fmla="val 3475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9619" y="4785816"/>
            <a:ext cx="33001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Quality Red Flags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9619" y="5035352"/>
            <a:ext cx="33001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Lowest-rated categories requiring immediate quality intervention: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099619" y="5438378"/>
            <a:ext cx="3300132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Office Furniture: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3.64 stars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Fashion Male Clothing: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3.79 stars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Audio: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3.83 stars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267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Consumer Financing &amp; Payment Methods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74043"/>
            <a:ext cx="1086874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Payment behavior analysis reveals both the dominance of credit infrastructure and the strategic importance of installment financing in driving basket size — with direct implications for checkout optimization and revenue per transaction.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80046"/>
            <a:ext cx="7608102" cy="32182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8133" y="4789388"/>
            <a:ext cx="5459871" cy="1518245"/>
          </a:xfrm>
          <a:prstGeom prst="roundRect">
            <a:avLst>
              <a:gd name="adj" fmla="val 5490"/>
            </a:avLst>
          </a:prstGeom>
          <a:solidFill>
            <a:srgbClr val="1D1F22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93819" y="4870351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Payment Volume Share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3819" y="5132189"/>
            <a:ext cx="5228499" cy="71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Credit Card: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75.9% of all transactions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Boleto: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19.9% — critical for unbanked segments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Voucher: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3.7%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Debit Card: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1.5%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3819" y="5919787"/>
            <a:ext cx="522849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Credit card dominance reflects Brazil's growing fintech penetration, but Boleto's 19.9% share signals a substantial unbanked consumer base that must not be deprioritized.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43382" y="4870351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Basket Value &amp; Installment Behavior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43382" y="5132189"/>
            <a:ext cx="5293188" cy="1017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Credit Cards drive the highest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Average Order Value at 165.6 BRL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compared to Boleto at 144.3 BRL — a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14.8% AOV premium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credit-enabled customers.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Installment analysis reveals a bimodal demand pattern: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1-installment transactions peak at ~24K orders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but long-term financing at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8–10 installments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represents a significant secondary demand spike — indicating a meaningful segment of high-value, credit-dependent consumers financing larger purchases.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8555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Severe One-Time Purchase Dependency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294209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most structurally critical finding in the dataset: Olist's revenue base is almost entirely dependent on first-time buyers, creating extreme fragility in Customer Lifetime Value and long-term platform sustainability.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14673"/>
            <a:ext cx="7064595" cy="2889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5248" y="4536380"/>
            <a:ext cx="2316998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97.0%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61475" y="4997252"/>
            <a:ext cx="356464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One-Time Buyers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61475" y="5207000"/>
            <a:ext cx="3564642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Customers who place only a single order — the dominant behavioral cohort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937299" y="4536380"/>
            <a:ext cx="2316998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94.4%</a:t>
            </a:r>
            <a:endParaRPr lang="en-US" sz="2750" dirty="0"/>
          </a:p>
        </p:txBody>
      </p:sp>
      <p:sp>
        <p:nvSpPr>
          <p:cNvPr id="9" name="Text 6"/>
          <p:cNvSpPr/>
          <p:nvPr/>
        </p:nvSpPr>
        <p:spPr>
          <a:xfrm>
            <a:off x="4313427" y="4997252"/>
            <a:ext cx="356474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Revenue from Single Orders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13427" y="5207000"/>
            <a:ext cx="356474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Gross revenue contribution from one-time buyers — a critical concentration risk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89351" y="4536380"/>
            <a:ext cx="2316998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2.8%</a:t>
            </a:r>
            <a:endParaRPr lang="en-US" sz="2750" dirty="0"/>
          </a:p>
        </p:txBody>
      </p:sp>
      <p:sp>
        <p:nvSpPr>
          <p:cNvPr id="12" name="Text 9"/>
          <p:cNvSpPr/>
          <p:nvPr/>
        </p:nvSpPr>
        <p:spPr>
          <a:xfrm>
            <a:off x="7965479" y="4997252"/>
            <a:ext cx="356474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Repeat Buyers (2 Orders)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65479" y="5207000"/>
            <a:ext cx="3564741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Only 2.8% of customers return for a second purchase; 3+ orders represent just 0.2%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61475" y="5569347"/>
            <a:ext cx="10868745" cy="469999"/>
          </a:xfrm>
          <a:prstGeom prst="roundRect">
            <a:avLst>
              <a:gd name="adj" fmla="val 9607"/>
            </a:avLst>
          </a:prstGeom>
          <a:solidFill>
            <a:srgbClr val="FFB3B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6" y="5673527"/>
            <a:ext cx="134339" cy="10745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10716" y="5665986"/>
            <a:ext cx="1041205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Urgent strategic imperative: Deploy loyalty programs, post-purchase engagement sequences, and subscription incentives to lift Customer Lifetime Value (LTV). A 5-percentage-point shift in repeat purchase rate would represent a transformational revenue impact at current GMV scale.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4010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Pareto Dependency &amp; Seller Risk Analysis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17786"/>
            <a:ext cx="1086874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Seller concentration analysis confirms a classic Pareto structure — with extreme revenue dependency on a small cohort of top performers. This concentration creates significant platform risk and demands a differentiated key-account strategy.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23789"/>
            <a:ext cx="7608102" cy="30888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8133" y="4603750"/>
            <a:ext cx="5459871" cy="1760240"/>
          </a:xfrm>
          <a:prstGeom prst="roundRect">
            <a:avLst>
              <a:gd name="adj" fmla="val 4736"/>
            </a:avLst>
          </a:prstGeom>
          <a:solidFill>
            <a:srgbClr val="1D1F22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93819" y="4684713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Seller Tier Breakdown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3819" y="4946551"/>
            <a:ext cx="5228499" cy="71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Top 1% Sellers: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Drive 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25.5%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gross revenue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Top 5% Sellers: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Drive 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52.8%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gross revenue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Top 20% Sellers: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Account for 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82.2%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gross revenue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Bottom 80% Sellers: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Generate only 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17.8%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combined GMV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3819" y="5734149"/>
            <a:ext cx="522849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18.0% of active sellers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generate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80% of total GMV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 concentration ratio that exceeds even the classic Pareto benchmark.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43382" y="4684713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Strategic Risk &amp; Recommendations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43382" y="4946551"/>
            <a:ext cx="590277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 platform dependency on top sellers creates three categories of structural risk: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43382" y="5176937"/>
            <a:ext cx="5293188" cy="1158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3000"/>
              </a:lnSpc>
              <a:buSzPct val="100000"/>
              <a:buFont typeface="+mj-lt"/>
              <a:buAutoNum type="arabicPeriod" startAt="1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Churn Risk:</a:t>
            </a:r>
            <a:pPr algn="l" marL="182880" indent="-182880">
              <a:lnSpc>
                <a:spcPct val="113000"/>
              </a:lnSpc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Loss of a single top-1% seller removes ~25% of GMV — requiring dedicated key-account retention programs with SLA guarantees and preferential fee structures.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Negotiation Leverage:</a:t>
            </a:r>
            <a:pPr algn="l" marL="182880" indent="-182880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Concentrated sellers hold disproportionate bargaining power on commission rates and promotional terms.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Growth Ceiling:</a:t>
            </a:r>
            <a:pPr algn="l" marL="182880" indent="-182880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Bottom-80% seller underperformance signals a need for seller enablement programs — onboarding support, analytics tooling, and fulfillment subsidies — to broaden the revenue base.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E4CE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2026-09-06T11:51:41Z</dcterms:created>
  <dcterms:modified xsi:type="dcterms:W3CDTF">2026-09-06T11:51:41Z</dcterms:modified>
</cp:coreProperties>
</file>